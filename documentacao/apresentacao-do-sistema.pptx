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3246120" cy="347472"/>
          </a:xfrm>
          <a:prstGeom prst="rect">
            <a:avLst/>
          </a:prstGeom>
          <a:solidFill>
            <a:srgbClr val="AC13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· CENTRO DE OPERAÇÕES DE REDE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BPC-</a:t>
            </a:r>
            <a:pPr indent="0" marL="0">
              <a:buNone/>
            </a:pPr>
            <a:r>
              <a:rPr lang="en-US" sz="6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observabilidade do banco: uma superfície única que mostra, em tempo real, o estado de toda a infraestrutura tecnológica — e leva do alarme geral à causa concreta em poucos cliques.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6656" y="416052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AC132E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41605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está mal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08376" y="4160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11296" y="416052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2F4457"/>
          </a:solidFill>
          <a:ln/>
        </p:spPr>
      </p:sp>
      <p:sp>
        <p:nvSpPr>
          <p:cNvPr id="10" name="Text 8"/>
          <p:cNvSpPr/>
          <p:nvPr/>
        </p:nvSpPr>
        <p:spPr>
          <a:xfrm>
            <a:off x="3511296" y="41605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 o quê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43016" y="4160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45936" y="416052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2F4457"/>
          </a:solidFill>
          <a:ln/>
        </p:spPr>
      </p:sp>
      <p:sp>
        <p:nvSpPr>
          <p:cNvPr id="13" name="Text 11"/>
          <p:cNvSpPr/>
          <p:nvPr/>
        </p:nvSpPr>
        <p:spPr>
          <a:xfrm>
            <a:off x="6345936" y="41605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77656" y="4160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180576" y="416052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2F4457"/>
          </a:solidFill>
          <a:ln/>
        </p:spPr>
      </p:sp>
      <p:sp>
        <p:nvSpPr>
          <p:cNvPr id="16" name="Text 14"/>
          <p:cNvSpPr/>
          <p:nvPr/>
        </p:nvSpPr>
        <p:spPr>
          <a:xfrm>
            <a:off x="9180576" y="41605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com contexto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sistema · Julho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300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"um conjunto de dashboards bonitos": é um fluxo de trabalho NOC completo, desenhado para três consumidores distintos.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94560"/>
            <a:ext cx="1783080" cy="292608"/>
          </a:xfrm>
          <a:prstGeom prst="rect">
            <a:avLst/>
          </a:prstGeom>
          <a:solidFill>
            <a:srgbClr val="AC13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NOC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035808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 o N1 · Visão Geral no ecrã grande: 1 card por domínio, vermelho/verde imediato, contagem de críticos e avisos, refresh automático ao minuto.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194560"/>
            <a:ext cx="1783080" cy="292608"/>
          </a:xfrm>
          <a:prstGeom prst="rect">
            <a:avLst/>
          </a:prstGeom>
          <a:solidFill>
            <a:srgbClr val="2F4457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N2→N5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em triagem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3035808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 nível a nível até ao dispositivo e à interface exacta que causa o problema — sem sair do Grafana, sempre com caminho de retorno.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192024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2194560"/>
            <a:ext cx="1783080" cy="292608"/>
          </a:xfrm>
          <a:prstGeom prst="rect">
            <a:avLst/>
          </a:prstGeom>
          <a:solidFill>
            <a:srgbClr val="2F4457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9536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&amp; cliente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95360" y="3035808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Excel/PDF por domínio e relatório diário dos 50 sistemas de negócio — evidência objectiva do serviço prestado.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nível responde a uma pergunta mais específica que o anterior: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" y="539496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AC132E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539496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 o problema?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08376" y="53949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511296" y="539496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2F4457"/>
          </a:solidFill>
          <a:ln/>
        </p:spPr>
      </p:sp>
      <p:sp>
        <p:nvSpPr>
          <p:cNvPr id="24" name="Text 22"/>
          <p:cNvSpPr/>
          <p:nvPr/>
        </p:nvSpPr>
        <p:spPr>
          <a:xfrm>
            <a:off x="3511296" y="539496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domínio/segmento?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43016" y="53949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345936" y="539496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2F4457"/>
          </a:solidFill>
          <a:ln/>
        </p:spPr>
      </p:sp>
      <p:sp>
        <p:nvSpPr>
          <p:cNvPr id="27" name="Text 25"/>
          <p:cNvSpPr/>
          <p:nvPr/>
        </p:nvSpPr>
        <p:spPr>
          <a:xfrm>
            <a:off x="6345936" y="539496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N3–N4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dispositivo, e o que tem?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77656" y="53949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180576" y="539496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2F4457"/>
          </a:solidFill>
          <a:ln/>
        </p:spPr>
      </p:sp>
      <p:sp>
        <p:nvSpPr>
          <p:cNvPr id="30" name="Text 28"/>
          <p:cNvSpPr/>
          <p:nvPr/>
        </p:nvSpPr>
        <p:spPr>
          <a:xfrm>
            <a:off x="9180576" y="539496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N5–N6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interface exacta?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44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actuais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F2E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DOMÍNIOS 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spc="100" kern="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MONITORIZAÇÃO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56432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AC132E"/>
          </a:solidFill>
          <a:ln/>
        </p:spPr>
      </p:sp>
      <p:sp>
        <p:nvSpPr>
          <p:cNvPr id="7" name="Text 5"/>
          <p:cNvSpPr/>
          <p:nvPr/>
        </p:nvSpPr>
        <p:spPr>
          <a:xfrm>
            <a:off x="3456432" y="196596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456432" y="3063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spc="100" kern="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72784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F2E3C"/>
          </a:solidFill>
          <a:ln/>
        </p:spPr>
      </p:sp>
      <p:sp>
        <p:nvSpPr>
          <p:cNvPr id="10" name="Text 8"/>
          <p:cNvSpPr/>
          <p:nvPr/>
        </p:nvSpPr>
        <p:spPr>
          <a:xfrm>
            <a:off x="6272784" y="196596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272784" y="3063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spc="100" kern="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INFRA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89136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F2E3C"/>
          </a:solidFill>
          <a:ln/>
        </p:spPr>
      </p:sp>
      <p:sp>
        <p:nvSpPr>
          <p:cNvPr id="13" name="Text 11"/>
          <p:cNvSpPr/>
          <p:nvPr/>
        </p:nvSpPr>
        <p:spPr>
          <a:xfrm>
            <a:off x="9089136" y="196596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9089136" y="3063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NEGÓCIO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spc="100" kern="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MAPEADOS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 4 vCenters VMware  ·  VMs de produção  ·  storage e tape  ·  rede completa (DC fabric, borda WAN, edifícios e agências)  ·  bases de dados MSSQL/Oracle  ·  41 aplicações sintéticas  ·  serviços de suporte (DNS, DHCP, AD, NTP, Email)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300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por domínio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domínio é um card no ecrã principal e uma pasta própria no Grafana.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5577840"/>
                <a:gridCol w="19476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4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4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Âmbito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4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Profundidade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4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C1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Visão Geral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71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Wallboard NOC, índice de dashboards, notificações, relatórios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C1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Infraestrutura VMware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71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vCenters, clusters, hosts ESXi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 → N3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C1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Armazenamento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71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arrays, tape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C1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Servidores Virtuais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71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 das VMs de produção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 → N3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C1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71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segmentos: Agências · Borda DC (5 routers WAN) · DC Fabric (7 switches) · Edifícios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 → N6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C1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71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Firewalls, WAF, Darktrace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construção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C1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Bases de Dados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71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Instâncias MSSQL/Oracle, por tier de sinal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 (N3 em curso)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C1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 e Serviços de Negócio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71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Endpoints técnicos, sintéticos, eBankit, relatório diário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 → N4 + 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C1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Serviços de Suporte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E71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DNS, DHCP, AD, NTP, WSUS, Email, IAM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300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— 3 camadas, cada uma com a sua fonte de verdade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estrutural: o Grafana não duplica alertas. O alarme vive no Zabbix; o Grafana mostra, navega e correlaciona — evita dois sistemas de alerta a divergir.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1F2E3C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468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29718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Infra + 7.0 Network. Recolha de dados, triggers, alertas e escalação.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" y="4434840"/>
            <a:ext cx="2971800" cy="36576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4434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VERDADE: DADOS E ALARMES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06240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2F4457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2468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12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73168" y="29718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Superfície única de observabilidade: visualização, navegação em drill-down, correlação.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73168" y="4434840"/>
            <a:ext cx="2971800" cy="36576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4434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VERDADE: APRESENTAÇÃO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046720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21040" y="21488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AC132E"/>
          </a:solidFill>
          <a:ln/>
        </p:spPr>
      </p:sp>
      <p:sp>
        <p:nvSpPr>
          <p:cNvPr id="17" name="Text 15"/>
          <p:cNvSpPr/>
          <p:nvPr/>
        </p:nvSpPr>
        <p:spPr>
          <a:xfrm>
            <a:off x="8613648" y="2468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Git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13648" y="29718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todos os painéis, manifestos e documentação. Tudo auditável e reversível.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13648" y="4434840"/>
            <a:ext cx="2971800" cy="36576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613648" y="4434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VERDADE: CÓDIGO E HISTÓRIA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300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foi montado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16184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Tudo é código versionado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96112" y="214884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painel é um ficheiro no repositório; nada se edita "à mão" no Grafana. Editar local → validar → publicar → testar → commit. Tudo reconstruível, auditável, reversível.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36592" y="16184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Auditoria antes de desenhar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36592" y="214884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dashboard nasceu de suposições: cada segmento passou por checklist contra os dados reais do Zabbix — tags e nomes herdados provaram estar errados várias vezes.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321040" y="141732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77072" y="16184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Construção incremental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77072" y="214884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painel é escrito, publicado e testado individualmente antes do seguinte — nunca "big bang".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1330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Runtime partilhado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96112" y="466344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painel utilitário por dashboard fornece tema, cores e thresholds comuns — o N1 nunca contradiz o N2/N3.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393192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41330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Segurança por contrato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36592" y="466344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livres; qualquer escrita (Zabbix, Grafana, VMs) exige confirmação humana explícita, caso a caso.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21040" y="393192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9050">
            <a:solidFill>
              <a:srgbClr val="AC1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77072" y="41330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 trabalho invisível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577072" y="466344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Saneamento da base: agentes recuperados, 23 duplicados removidos, BDs reclassificadas host a host, 50 sistemas de negócio reconciliados. Um dashboard só vale o que valem os dados por baixo.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indent="0" marL="0">
              <a:buNone/>
            </a:pPr>
            <a:r>
              <a:rPr lang="en-US" sz="300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NOC — rotina de turno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Acesso: http://10.10.126.22:3000 → pasta 00 · Visão Geral → N1 · Visão Geral — Estado global (wallboard, refresh ao minuto).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AC13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192938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Wallboard N1 no ecrã grande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25880" y="2276856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cards, um por domínio, com contagem de CRÍTICOS e AVISOS. Verde = seguir; vermelho = triagem.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475488" cy="475488"/>
          </a:xfrm>
          <a:prstGeom prst="ellipse">
            <a:avLst/>
          </a:prstGeom>
          <a:solidFill>
            <a:srgbClr val="AC132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30449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por drill-down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25880" y="3392424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agência em baixo → N2 Rede → N3 Agências (geomap) → N4 Agência → N5 Interfaces. Sistema de negócio → N2 APIs → N3 App → N4 Sistema.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197096"/>
            <a:ext cx="475488" cy="475488"/>
          </a:xfrm>
          <a:prstGeom prst="ellipse">
            <a:avLst/>
          </a:prstGeom>
          <a:solidFill>
            <a:srgbClr val="AC13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97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4160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no Zabbix quando necessário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450799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alarme oficial (trigger, duração, ack) vive no Zabbix; o Grafana diz onde olhar.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5312664"/>
            <a:ext cx="475488" cy="475488"/>
          </a:xfrm>
          <a:prstGeom prst="ellipse">
            <a:avLst/>
          </a:prstGeom>
          <a:solidFill>
            <a:srgbClr val="AC13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12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25880" y="52760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25880" y="56235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· Relatórios exporta Excel/PDF por domínio; R1 · Relatório Diário cobre os 50 sistemas de negócio.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86600" y="1965960"/>
            <a:ext cx="4434840" cy="2011680"/>
          </a:xfrm>
          <a:prstGeom prst="roundRect">
            <a:avLst>
              <a:gd name="adj" fmla="val 2727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2176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Convenções de leitura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60920" y="2542032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OK · amarelo aviso · vermelho crítico · cinzento sem dados. Badge "dados desactualizados" = a fonte parou de reportar (sinal real). Painéis compostos demoram 10–20 s no primeiro load.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086600" y="4160520"/>
            <a:ext cx="44348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AC13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4370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NÃO FAZ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60920" y="47091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dashboards directamente no Grafana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templates/discovery/notificações no Zabbix (risco de flood de tickets — incidente GLPI documentado)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Apagar ou mover dashboards entre pastas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pPr indent="0" marL="0">
              <a:buNone/>
            </a:pPr>
            <a:r>
              <a:rPr lang="en-US" sz="300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Manutenção, estado actual e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alteração segue o mesmo ciclo: editar local → validar sintaxe → publicar no Grafana → testar no browser → commit. O Grafana é o ambiente de teste; o Git é o repositório.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66160" cy="2514600"/>
          </a:xfrm>
          <a:prstGeom prst="roundRect">
            <a:avLst>
              <a:gd name="adj" fmla="val 2182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23160"/>
            <a:ext cx="1783080" cy="292608"/>
          </a:xfrm>
          <a:prstGeom prst="rect">
            <a:avLst/>
          </a:prstGeom>
          <a:solidFill>
            <a:srgbClr val="2F445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Domínios 00–04, 06, 07 e 10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331012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funcional de ponta a ponta: wallboard, rede completa (4 segmentos), VMware, VMs, storage, BDs, APIs e suporte.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66160" cy="2514600"/>
          </a:xfrm>
          <a:prstGeom prst="roundRect">
            <a:avLst>
              <a:gd name="adj" fmla="val 2182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423160"/>
            <a:ext cx="1783080" cy="292608"/>
          </a:xfrm>
          <a:prstGeom prst="rect">
            <a:avLst/>
          </a:prstGeom>
          <a:solidFill>
            <a:srgbClr val="AC132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4231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CONSTRUÇÃO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Segurança + N3 de BDs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54880" y="331012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é placeholder no N1; o N3 de Bases de Dados tem mockup aprovado, código por escrever.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1040" y="2148840"/>
            <a:ext cx="3566160" cy="2514600"/>
          </a:xfrm>
          <a:prstGeom prst="roundRect">
            <a:avLst>
              <a:gd name="adj" fmla="val 2182"/>
            </a:avLst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2423160"/>
            <a:ext cx="1783080" cy="292608"/>
          </a:xfrm>
          <a:prstGeom prst="rect">
            <a:avLst/>
          </a:prstGeom>
          <a:solidFill>
            <a:srgbClr val="AC132E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4231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PENDENTE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59536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por email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95360" y="331012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Deliberadamente desligadas desde o incidente GLPI. Reactivar exige plano de supressão para não reabrir o flood de tickets.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seguinte:  </a:t>
            </a:r>
            <a:pPr indent="0" marL="0">
              <a:buNone/>
            </a:pPr>
            <a:r>
              <a:rPr lang="en-US" sz="1400" dirty="0">
                <a:solidFill>
                  <a:srgbClr val="5E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N0 executiva (SLA / disponibilidade) e relatórios automáticos por domínio.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BPC-</a:t>
            </a:r>
            <a:pPr indent="0" marL="0">
              <a:buNone/>
            </a:pPr>
            <a:r>
              <a:rPr lang="en-US" sz="4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alarme geral à causa concreta, em poucos cliques.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76656" y="361188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AC132E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361188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08376" y="3611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11296" y="361188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2F4457"/>
          </a:solidFill>
          <a:ln/>
        </p:spPr>
      </p:sp>
      <p:sp>
        <p:nvSpPr>
          <p:cNvPr id="8" name="Text 6"/>
          <p:cNvSpPr/>
          <p:nvPr/>
        </p:nvSpPr>
        <p:spPr>
          <a:xfrm>
            <a:off x="3511296" y="361188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43016" y="3611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45936" y="361188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2F4457"/>
          </a:solidFill>
          <a:ln/>
        </p:spPr>
      </p:sp>
      <p:sp>
        <p:nvSpPr>
          <p:cNvPr id="11" name="Text 9"/>
          <p:cNvSpPr/>
          <p:nvPr/>
        </p:nvSpPr>
        <p:spPr>
          <a:xfrm>
            <a:off x="6345936" y="361188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77656" y="3611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C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80576" y="3611880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2F4457"/>
          </a:solidFill>
          <a:ln/>
        </p:spPr>
      </p:sp>
      <p:sp>
        <p:nvSpPr>
          <p:cNvPr id="14" name="Text 12"/>
          <p:cNvSpPr/>
          <p:nvPr/>
        </p:nvSpPr>
        <p:spPr>
          <a:xfrm>
            <a:off x="9180576" y="361188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Acesso:  </a:t>
            </a:r>
            <a:pPr indent="0" marL="0">
              <a:buNone/>
            </a:pPr>
            <a:r>
              <a:rPr lang="en-US" sz="13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http://10.10.126.22:3000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Documentação técnica:  </a:t>
            </a:r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· pasta documentacao/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Poupança e Crédito · Centro de Operações de Rede · Julho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2026-07-12T21:24:12Z</dcterms:created>
  <dcterms:modified xsi:type="dcterms:W3CDTF">2026-07-12T21:24:12Z</dcterms:modified>
</cp:coreProperties>
</file>